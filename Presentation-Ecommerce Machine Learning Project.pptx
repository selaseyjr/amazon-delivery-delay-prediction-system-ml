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59" r:id="rId7"/>
    <p:sldId id="267" r:id="rId8"/>
    <p:sldId id="264" r:id="rId9"/>
    <p:sldId id="266" r:id="rId10"/>
    <p:sldId id="261" r:id="rId11"/>
    <p:sldId id="262" r:id="rId12"/>
    <p:sldId id="265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640080"/>
            <a:ext cx="1828800" cy="1828800"/>
          </a:xfrm>
          <a:prstGeom prst="ellipse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Delivery Delay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482" y="3429000"/>
            <a:ext cx="74021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solidFill>
                  <a:srgbClr val="00B4D8"/>
                </a:solidFill>
              </a:rPr>
              <a:t>Machine Learning in E-Commerce Logistics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42771" y="690396"/>
            <a:ext cx="35972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</a:rPr>
              <a:t>The </a:t>
            </a:r>
            <a:r>
              <a:rPr lang="de-DE" sz="3000" b="1" dirty="0">
                <a:solidFill>
                  <a:srgbClr val="FFFFFF"/>
                </a:solidFill>
              </a:rPr>
              <a:t>Project Objective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48211" y="3753394"/>
            <a:ext cx="2194560" cy="91440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Late Deliveries</a:t>
            </a:r>
            <a:endParaRPr lang="de-DE" dirty="0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en-IE" dirty="0"/>
              <a:t>Prediction Accuracy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217818" y="5710404"/>
            <a:ext cx="2194560" cy="91440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de-DE" dirty="0"/>
              <a:t>Generate Logistics Insights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39974" y="4210594"/>
            <a:ext cx="2194560" cy="91440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de-DE" dirty="0"/>
              <a:t>Multiple Model Performance Comparison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217818" y="2514600"/>
            <a:ext cx="2194560" cy="91440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Machine Learning</a:t>
            </a:r>
            <a:endParaRPr lang="de-DE" dirty="0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en-IE" dirty="0"/>
              <a:t>Model Training/ Testing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27188-26EF-47B1-722D-058BE386746D}"/>
              </a:ext>
            </a:extLst>
          </p:cNvPr>
          <p:cNvSpPr txBox="1"/>
          <p:nvPr/>
        </p:nvSpPr>
        <p:spPr>
          <a:xfrm>
            <a:off x="352697" y="1347651"/>
            <a:ext cx="7707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chemeClr val="bg1"/>
                </a:solidFill>
              </a:rPr>
              <a:t>This project explores the application of Machine Learning techniques to predict delivery delays within an e-commerce logistics environment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457" y="1341120"/>
            <a:ext cx="69886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• Amazon-style E-Commerce Dataset</a:t>
            </a:r>
            <a:r>
              <a:rPr lang="de-DE" dirty="0"/>
              <a:t> from Kaggle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• 1 Million original rows</a:t>
            </a:r>
            <a:endParaRPr lang="de-DE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• 20,000 sampled records used</a:t>
            </a:r>
            <a:endParaRPr lang="de-DE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• 20+ operational and pricing features</a:t>
            </a:r>
            <a:endParaRPr lang="de-DE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• Binary classification target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C6DBA-AFE5-2258-59D6-4AFD3958B3AC}"/>
              </a:ext>
            </a:extLst>
          </p:cNvPr>
          <p:cNvSpPr txBox="1"/>
          <p:nvPr/>
        </p:nvSpPr>
        <p:spPr>
          <a:xfrm>
            <a:off x="566056" y="4354286"/>
            <a:ext cx="7598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E" sz="2000" b="1" dirty="0">
                <a:solidFill>
                  <a:schemeClr val="bg1"/>
                </a:solidFill>
              </a:rPr>
              <a:t>To improve computational efficiency and maintain project manageability, a working sample of 20,000 rows was selected for model development.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7845D-314D-6FBD-83C8-310ADB88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7F0FB5-4D32-1157-4CE7-F55C6D5DB6F1}"/>
              </a:ext>
            </a:extLst>
          </p:cNvPr>
          <p:cNvSpPr txBox="1"/>
          <p:nvPr/>
        </p:nvSpPr>
        <p:spPr>
          <a:xfrm>
            <a:off x="73152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F563B-9FAD-BE1C-75EC-72F0A209533B}"/>
              </a:ext>
            </a:extLst>
          </p:cNvPr>
          <p:cNvSpPr txBox="1"/>
          <p:nvPr/>
        </p:nvSpPr>
        <p:spPr>
          <a:xfrm>
            <a:off x="141515" y="1211052"/>
            <a:ext cx="77179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chemeClr val="bg1"/>
                </a:solidFill>
              </a:rPr>
              <a:t>Key Variables Included </a:t>
            </a:r>
            <a:r>
              <a:rPr lang="en-IE" b="1" dirty="0">
                <a:solidFill>
                  <a:schemeClr val="bg1"/>
                </a:solidFill>
              </a:rPr>
              <a:t>:</a:t>
            </a:r>
          </a:p>
          <a:p>
            <a:endParaRPr lang="en-IE" dirty="0">
              <a:solidFill>
                <a:schemeClr val="bg1"/>
              </a:solidFill>
            </a:endParaRPr>
          </a:p>
          <a:p>
            <a:r>
              <a:rPr lang="en-IE" dirty="0">
                <a:solidFill>
                  <a:schemeClr val="bg1"/>
                </a:solidFill>
              </a:rPr>
              <a:t>	• </a:t>
            </a:r>
            <a:r>
              <a:rPr lang="en-IE" sz="2000" dirty="0">
                <a:solidFill>
                  <a:schemeClr val="bg1"/>
                </a:solidFill>
              </a:rPr>
              <a:t>Product category and subcategory </a:t>
            </a:r>
          </a:p>
          <a:p>
            <a:r>
              <a:rPr lang="en-IE" sz="2000" dirty="0">
                <a:solidFill>
                  <a:schemeClr val="bg1"/>
                </a:solidFill>
              </a:rPr>
              <a:t>	• Product pricing and discounts </a:t>
            </a:r>
          </a:p>
          <a:p>
            <a:r>
              <a:rPr lang="en-IE" sz="2000" dirty="0">
                <a:solidFill>
                  <a:schemeClr val="bg1"/>
                </a:solidFill>
              </a:rPr>
              <a:t>	• Seller ratings </a:t>
            </a:r>
          </a:p>
          <a:p>
            <a:r>
              <a:rPr lang="en-IE" sz="2000" dirty="0">
                <a:solidFill>
                  <a:schemeClr val="bg1"/>
                </a:solidFill>
              </a:rPr>
              <a:t>	• Stock availability </a:t>
            </a:r>
          </a:p>
          <a:p>
            <a:r>
              <a:rPr lang="en-IE" sz="2000" dirty="0">
                <a:solidFill>
                  <a:schemeClr val="bg1"/>
                </a:solidFill>
              </a:rPr>
              <a:t>	• Shipping time </a:t>
            </a:r>
          </a:p>
          <a:p>
            <a:r>
              <a:rPr lang="en-IE" sz="2000" dirty="0">
                <a:solidFill>
                  <a:schemeClr val="bg1"/>
                </a:solidFill>
              </a:rPr>
              <a:t>	• Customer ratings and review counts </a:t>
            </a:r>
          </a:p>
          <a:p>
            <a:r>
              <a:rPr lang="en-IE" sz="2000" dirty="0">
                <a:solidFill>
                  <a:schemeClr val="bg1"/>
                </a:solidFill>
              </a:rPr>
              <a:t>	• Payment methods </a:t>
            </a:r>
          </a:p>
          <a:p>
            <a:r>
              <a:rPr lang="en-IE" sz="2000" dirty="0">
                <a:solidFill>
                  <a:schemeClr val="bg1"/>
                </a:solidFill>
              </a:rPr>
              <a:t>	• Delivery status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975BE-1976-E359-E49F-CE54EE7C6A2D}"/>
              </a:ext>
            </a:extLst>
          </p:cNvPr>
          <p:cNvSpPr txBox="1"/>
          <p:nvPr/>
        </p:nvSpPr>
        <p:spPr>
          <a:xfrm>
            <a:off x="731520" y="4670091"/>
            <a:ext cx="75982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chemeClr val="bg1"/>
                </a:solidFill>
              </a:rPr>
              <a:t>The target variable was transformed into a binary classification problem</a:t>
            </a:r>
            <a:r>
              <a:rPr lang="en-IE" sz="2000" dirty="0">
                <a:solidFill>
                  <a:schemeClr val="bg1"/>
                </a:solidFill>
              </a:rPr>
              <a:t>:</a:t>
            </a:r>
          </a:p>
          <a:p>
            <a:endParaRPr lang="en-IE" sz="2000" dirty="0">
              <a:solidFill>
                <a:schemeClr val="bg1"/>
              </a:solidFill>
            </a:endParaRPr>
          </a:p>
          <a:p>
            <a:r>
              <a:rPr lang="en-IE" dirty="0">
                <a:solidFill>
                  <a:schemeClr val="bg1"/>
                </a:solidFill>
              </a:rPr>
              <a:t>• </a:t>
            </a:r>
            <a:r>
              <a:rPr lang="en-IE" sz="2000" dirty="0">
                <a:solidFill>
                  <a:schemeClr val="bg1"/>
                </a:solidFill>
              </a:rPr>
              <a:t>0 = On-Time deliveries</a:t>
            </a:r>
          </a:p>
          <a:p>
            <a:r>
              <a:rPr lang="en-IE" sz="2000" dirty="0">
                <a:solidFill>
                  <a:schemeClr val="bg1"/>
                </a:solidFill>
              </a:rPr>
              <a:t>• 1 = Delayed deliveries</a:t>
            </a:r>
            <a:endParaRPr lang="en-IE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19741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4766" y="4970298"/>
            <a:ext cx="79944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de-DE" dirty="0"/>
              <a:t>Observation: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lang="de-DE" dirty="0"/>
              <a:t>About 14000(71%) of product delivery status count as Not delayed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lang="de-DE" dirty="0"/>
              <a:t>About 6,000 product delivery status count as Delayed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lang="de-DE" dirty="0"/>
              <a:t>A bias between two (2) classes</a:t>
            </a:r>
            <a:endParaRPr dirty="0"/>
          </a:p>
          <a:p>
            <a:pPr>
              <a:defRPr sz="2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574766" y="182880"/>
            <a:ext cx="235192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3000" b="1" dirty="0">
                <a:solidFill>
                  <a:srgbClr val="FFFFFF"/>
                </a:solidFill>
              </a:rPr>
              <a:t>Class Preview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18457" y="920932"/>
            <a:ext cx="7850777" cy="386878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145813-602A-2E2D-FA2D-D34D1154FE2C}"/>
              </a:ext>
            </a:extLst>
          </p:cNvPr>
          <p:cNvSpPr/>
          <p:nvPr/>
        </p:nvSpPr>
        <p:spPr>
          <a:xfrm>
            <a:off x="94706" y="4902873"/>
            <a:ext cx="2821577" cy="148704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Machine Learning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8823" y="1915885"/>
            <a:ext cx="1280160" cy="73152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Cleaning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705" y="1915885"/>
            <a:ext cx="1280160" cy="73152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68588" y="1915885"/>
            <a:ext cx="1280160" cy="73152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5932" y="1915884"/>
            <a:ext cx="1280160" cy="73152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Train/Test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1892" y="4332514"/>
            <a:ext cx="1280160" cy="73152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KNN Modeling</a:t>
            </a:r>
            <a:r>
              <a:rPr lang="de-DE" dirty="0"/>
              <a:t> &amp; 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1400" y="4332514"/>
            <a:ext cx="1280160" cy="73152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0909" y="4332514"/>
            <a:ext cx="1280160" cy="73152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12FF8A1-C353-040F-C303-412EFF4B71C2}"/>
              </a:ext>
            </a:extLst>
          </p:cNvPr>
          <p:cNvSpPr/>
          <p:nvPr/>
        </p:nvSpPr>
        <p:spPr>
          <a:xfrm>
            <a:off x="1786618" y="2196736"/>
            <a:ext cx="509452" cy="1698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CAB1BFA-382B-29B4-3AE8-D7BAED8640A9}"/>
              </a:ext>
            </a:extLst>
          </p:cNvPr>
          <p:cNvSpPr/>
          <p:nvPr/>
        </p:nvSpPr>
        <p:spPr>
          <a:xfrm>
            <a:off x="3839939" y="2198908"/>
            <a:ext cx="500743" cy="1676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54283CE-2F2A-0DA6-E1A2-2B8BD2B7D801}"/>
              </a:ext>
            </a:extLst>
          </p:cNvPr>
          <p:cNvSpPr/>
          <p:nvPr/>
        </p:nvSpPr>
        <p:spPr>
          <a:xfrm>
            <a:off x="5987143" y="2196736"/>
            <a:ext cx="526328" cy="1698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8FDEB4F-DC47-DB18-475C-094FAE7F8353}"/>
              </a:ext>
            </a:extLst>
          </p:cNvPr>
          <p:cNvSpPr/>
          <p:nvPr/>
        </p:nvSpPr>
        <p:spPr>
          <a:xfrm flipV="1">
            <a:off x="2579914" y="4604657"/>
            <a:ext cx="616132" cy="1959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0C9E15-C2B5-D337-B7AC-2FB5123B3D30}"/>
              </a:ext>
            </a:extLst>
          </p:cNvPr>
          <p:cNvSpPr/>
          <p:nvPr/>
        </p:nvSpPr>
        <p:spPr>
          <a:xfrm>
            <a:off x="5246914" y="4604656"/>
            <a:ext cx="620486" cy="1959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8E11D-BF36-E0C1-B520-CB5AEF1A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AA096A-9892-2833-038B-9BCB3831AC49}"/>
              </a:ext>
            </a:extLst>
          </p:cNvPr>
          <p:cNvSpPr txBox="1"/>
          <p:nvPr/>
        </p:nvSpPr>
        <p:spPr>
          <a:xfrm>
            <a:off x="574766" y="4970298"/>
            <a:ext cx="302840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Initial KNN</a:t>
            </a:r>
            <a:r>
              <a:rPr lang="de-DE" dirty="0"/>
              <a:t> (5) </a:t>
            </a:r>
            <a:r>
              <a:rPr dirty="0"/>
              <a:t>: 64%</a:t>
            </a:r>
            <a:endParaRPr lang="de-DE" dirty="0"/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lang="en-IE" dirty="0"/>
              <a:t>      Recall: 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lang="en-IE" i="1" dirty="0"/>
              <a:t>Non-Delayed = 0.84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lang="en-IE" i="1" dirty="0"/>
              <a:t>Delayed	       = 0.15</a:t>
            </a:r>
            <a:endParaRPr i="1" dirty="0"/>
          </a:p>
          <a:p>
            <a:pPr>
              <a:defRPr sz="2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0C6D3-993A-3EBC-B3CA-B70D34144DC2}"/>
              </a:ext>
            </a:extLst>
          </p:cNvPr>
          <p:cNvSpPr txBox="1"/>
          <p:nvPr/>
        </p:nvSpPr>
        <p:spPr>
          <a:xfrm>
            <a:off x="574766" y="182880"/>
            <a:ext cx="759746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Model Performance</a:t>
            </a:r>
            <a:r>
              <a:rPr lang="de-DE" sz="3000" b="1" dirty="0">
                <a:solidFill>
                  <a:srgbClr val="FFFFFF"/>
                </a:solidFill>
              </a:rPr>
              <a:t> &amp; Hyperparameter Tuning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3" name="Picture 2" descr="prezi_knn_chart.png">
            <a:extLst>
              <a:ext uri="{FF2B5EF4-FFF2-40B4-BE49-F238E27FC236}">
                <a16:creationId xmlns:a16="http://schemas.microsoft.com/office/drawing/2014/main" id="{9ACBCE53-3761-656F-4F12-EEA499A26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6" y="920932"/>
            <a:ext cx="7971801" cy="38687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DE1DE3-D55F-6998-6CAB-8C69FF35BDCC}"/>
              </a:ext>
            </a:extLst>
          </p:cNvPr>
          <p:cNvSpPr txBox="1"/>
          <p:nvPr/>
        </p:nvSpPr>
        <p:spPr>
          <a:xfrm>
            <a:off x="5344886" y="4970298"/>
            <a:ext cx="351826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chemeClr val="bg1"/>
                </a:solidFill>
              </a:rPr>
              <a:t>Tuned KNN (18.5) : 70.5%</a:t>
            </a:r>
          </a:p>
          <a:p>
            <a:r>
              <a:rPr lang="en-IE" sz="2000" b="1" dirty="0">
                <a:solidFill>
                  <a:schemeClr val="bg1"/>
                </a:solidFill>
              </a:rPr>
              <a:t>      Recall: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b="1" i="1" dirty="0">
                <a:solidFill>
                  <a:schemeClr val="bg1"/>
                </a:solidFill>
              </a:rPr>
              <a:t>Non Delayed = 0.99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b="1" i="1" dirty="0">
                <a:solidFill>
                  <a:schemeClr val="bg1"/>
                </a:solidFill>
              </a:rPr>
              <a:t>Delayed	       = 0.02</a:t>
            </a:r>
          </a:p>
          <a:p>
            <a:endParaRPr lang="en-I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27C6FE-EA89-0A83-8E61-6850310F903A}"/>
              </a:ext>
            </a:extLst>
          </p:cNvPr>
          <p:cNvSpPr/>
          <p:nvPr/>
        </p:nvSpPr>
        <p:spPr>
          <a:xfrm>
            <a:off x="94706" y="4902873"/>
            <a:ext cx="2821577" cy="148704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462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3FEF0-16DC-C073-D06F-E3C8F851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4A6D79-B5D5-8757-C480-3CE7E2F8A4D6}"/>
              </a:ext>
            </a:extLst>
          </p:cNvPr>
          <p:cNvSpPr txBox="1"/>
          <p:nvPr/>
        </p:nvSpPr>
        <p:spPr>
          <a:xfrm>
            <a:off x="388620" y="525780"/>
            <a:ext cx="383021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3000" b="1" dirty="0">
                <a:solidFill>
                  <a:srgbClr val="FFFFFF"/>
                </a:solidFill>
              </a:rPr>
              <a:t>Random Forest Results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2FF27-F974-F5AD-2F01-3B8A902D6B58}"/>
              </a:ext>
            </a:extLst>
          </p:cNvPr>
          <p:cNvSpPr txBox="1"/>
          <p:nvPr/>
        </p:nvSpPr>
        <p:spPr>
          <a:xfrm>
            <a:off x="604702" y="1268730"/>
            <a:ext cx="417415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lang="de-DE" sz="2400" dirty="0"/>
              <a:t>Random Forest Accuracy: 70.8%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de-DE" sz="2400" i="1" dirty="0"/>
              <a:t>Recall Non-delayed: 0.99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de-DE" sz="2400" i="1" dirty="0"/>
              <a:t>Recall Delayed: : 0.01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B0EB3-7AC6-8A86-791B-EBC1A0A866D6}"/>
              </a:ext>
            </a:extLst>
          </p:cNvPr>
          <p:cNvSpPr txBox="1"/>
          <p:nvPr/>
        </p:nvSpPr>
        <p:spPr>
          <a:xfrm>
            <a:off x="1143000" y="2950028"/>
            <a:ext cx="64661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Similar performance to KNN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Strong prediction of Non-delayed deliveries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Persistent class imbalance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Highlighted importance of Evaluation metrics</a:t>
            </a:r>
            <a:endParaRPr lang="en-I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50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49744-68BF-CB43-7ABF-C99A9C7A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3AFFA3-0DE9-B1AD-CD7C-3FE94171AF62}"/>
              </a:ext>
            </a:extLst>
          </p:cNvPr>
          <p:cNvSpPr txBox="1"/>
          <p:nvPr/>
        </p:nvSpPr>
        <p:spPr>
          <a:xfrm>
            <a:off x="247105" y="133894"/>
            <a:ext cx="464896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3000" b="1" dirty="0">
                <a:solidFill>
                  <a:srgbClr val="FFFFFF"/>
                </a:solidFill>
              </a:rPr>
              <a:t>Feature Importance Insights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81307-E7DC-A119-AC79-959ED6CC1878}"/>
              </a:ext>
            </a:extLst>
          </p:cNvPr>
          <p:cNvSpPr txBox="1"/>
          <p:nvPr/>
        </p:nvSpPr>
        <p:spPr>
          <a:xfrm>
            <a:off x="582930" y="1268730"/>
            <a:ext cx="18473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de-DE" sz="2400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660E5-FB38-0EEF-0380-8ABB59932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747355"/>
            <a:ext cx="7326086" cy="3232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40AE98-C59D-9EED-DC43-D4E7B72A21AA}"/>
              </a:ext>
            </a:extLst>
          </p:cNvPr>
          <p:cNvSpPr txBox="1"/>
          <p:nvPr/>
        </p:nvSpPr>
        <p:spPr>
          <a:xfrm>
            <a:off x="261257" y="4038851"/>
            <a:ext cx="862148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chemeClr val="bg1"/>
                </a:solidFill>
              </a:rPr>
              <a:t>The Random Forest model identified the following as the most influential features in delivery outcomes: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bg1"/>
                </a:solidFill>
              </a:rPr>
              <a:t>	</a:t>
            </a:r>
            <a:r>
              <a:rPr lang="en-IE" sz="2000" dirty="0">
                <a:solidFill>
                  <a:schemeClr val="bg1"/>
                </a:solidFill>
              </a:rPr>
              <a:t>Discount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schemeClr val="bg1"/>
                </a:solidFill>
              </a:rPr>
              <a:t>	Stock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schemeClr val="bg1"/>
                </a:solidFill>
              </a:rPr>
              <a:t>	Product 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schemeClr val="bg1"/>
                </a:solidFill>
              </a:rPr>
              <a:t>	Product popularity indicators</a:t>
            </a:r>
          </a:p>
          <a:p>
            <a:endParaRPr lang="en-IE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E" sz="2000" dirty="0">
                <a:solidFill>
                  <a:schemeClr val="bg1"/>
                </a:solidFill>
              </a:rPr>
              <a:t>Suggesting operational and inventory factors may influence delivery performance more strongly than customer behaviour metrics.</a:t>
            </a:r>
          </a:p>
        </p:txBody>
      </p:sp>
    </p:spTree>
    <p:extLst>
      <p:ext uri="{BB962C8B-B14F-4D97-AF65-F5344CB8AC3E}">
        <p14:creationId xmlns:p14="http://schemas.microsoft.com/office/powerpoint/2010/main" val="99724562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892" y="346166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371" y="783772"/>
            <a:ext cx="864325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endParaRPr lang="en-IE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en-IE" sz="2000" dirty="0"/>
              <a:t>KNN accuracy improved from 64.4% to 70.5% after hyperparameter tuning.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en-IE" sz="2000" dirty="0"/>
              <a:t>71% of records were non-delayed deliveries, creating a class imbalance challenge.</a:t>
            </a:r>
            <a:endParaRPr lang="de-DE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en-IE" sz="2000" dirty="0"/>
              <a:t>Random Forest achieved a slightly higher accuracy (</a:t>
            </a:r>
            <a:r>
              <a:rPr lang="en-IE" sz="2000" b="1" dirty="0"/>
              <a:t>70.8%</a:t>
            </a:r>
            <a:r>
              <a:rPr lang="en-IE" sz="2000" dirty="0"/>
              <a:t>) than KNN (</a:t>
            </a:r>
            <a:r>
              <a:rPr lang="en-IE" sz="2000" b="1" dirty="0"/>
              <a:t>70.5%</a:t>
            </a:r>
            <a:r>
              <a:rPr lang="en-IE" sz="2000" dirty="0"/>
              <a:t>), but delayed-delivery recall dropped further from </a:t>
            </a:r>
            <a:r>
              <a:rPr lang="en-IE" sz="2000" b="1" dirty="0"/>
              <a:t>2% to 1%</a:t>
            </a:r>
            <a:r>
              <a:rPr lang="en-IE" sz="2000" dirty="0"/>
              <a:t>.</a:t>
            </a:r>
            <a:endParaRPr lang="de-DE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de-DE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E" dirty="0"/>
              <a:t>• </a:t>
            </a:r>
            <a:r>
              <a:rPr lang="en-IE" sz="2000" dirty="0"/>
              <a:t>Model performance is also heavily influenced by data feature relevance, not just algorithm selection</a:t>
            </a:r>
            <a:endParaRPr lang="en-IE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E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E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E" sz="2000" dirty="0">
                <a:solidFill>
                  <a:schemeClr val="bg1"/>
                </a:solidFill>
              </a:rPr>
              <a:t>Although overall accuracy improved after tuning, evaluation metrics revealed significant class imbalance challenges. The models performed well at identifying non-delayed deliveries but struggled to accurately detect delayed shipments.</a:t>
            </a:r>
            <a:endParaRPr lang="de-DE" sz="2000" dirty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520" y="1121229"/>
            <a:ext cx="198714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3000" b="1" dirty="0">
                <a:solidFill>
                  <a:srgbClr val="FFFFFF"/>
                </a:solidFill>
              </a:rPr>
              <a:t>Challenges 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54B5E-F818-6A09-6E77-4314B14CE0DE}"/>
              </a:ext>
            </a:extLst>
          </p:cNvPr>
          <p:cNvSpPr txBox="1"/>
          <p:nvPr/>
        </p:nvSpPr>
        <p:spPr>
          <a:xfrm>
            <a:off x="-87084" y="1914713"/>
            <a:ext cx="45502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000" dirty="0">
                <a:solidFill>
                  <a:schemeClr val="bg1"/>
                </a:solidFill>
              </a:rPr>
              <a:t>Class imbalance between delivery classes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000" dirty="0">
                <a:solidFill>
                  <a:schemeClr val="bg1"/>
                </a:solidFill>
              </a:rPr>
              <a:t>Difficulty predicting delayed deliveries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000" dirty="0">
                <a:solidFill>
                  <a:schemeClr val="bg1"/>
                </a:solidFill>
              </a:rPr>
              <a:t>Limited predictive signals in dataset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000" dirty="0">
                <a:solidFill>
                  <a:schemeClr val="bg1"/>
                </a:solidFill>
              </a:rPr>
              <a:t>Tradeoff between accuracy and recall</a:t>
            </a:r>
            <a:endParaRPr lang="en-IE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28A29-F031-C7E5-A8E4-7AC47AE44382}"/>
              </a:ext>
            </a:extLst>
          </p:cNvPr>
          <p:cNvSpPr txBox="1"/>
          <p:nvPr/>
        </p:nvSpPr>
        <p:spPr>
          <a:xfrm>
            <a:off x="4800600" y="1121229"/>
            <a:ext cx="3679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b="1" dirty="0">
                <a:solidFill>
                  <a:schemeClr val="bg1"/>
                </a:solidFill>
              </a:rPr>
              <a:t>Future Improvements</a:t>
            </a:r>
            <a:endParaRPr lang="en-IE" sz="3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09A74-A959-197D-44E9-BC497BDF4872}"/>
              </a:ext>
            </a:extLst>
          </p:cNvPr>
          <p:cNvSpPr txBox="1"/>
          <p:nvPr/>
        </p:nvSpPr>
        <p:spPr>
          <a:xfrm>
            <a:off x="4626430" y="1914713"/>
            <a:ext cx="40821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000" dirty="0">
                <a:solidFill>
                  <a:schemeClr val="bg1"/>
                </a:solidFill>
              </a:rPr>
              <a:t>Explore additional logistics-related variables such as warehouse information, traffic conditions, weather data and carrier performance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000" dirty="0">
                <a:solidFill>
                  <a:schemeClr val="bg1"/>
                </a:solidFill>
              </a:rPr>
              <a:t>Experiment with techniques for handling class imbalance(SMOTE Oversampling/ undeersampling)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000" dirty="0">
                <a:solidFill>
                  <a:schemeClr val="bg1"/>
                </a:solidFill>
              </a:rPr>
              <a:t>Test more advanced machine learning models</a:t>
            </a:r>
            <a:endParaRPr lang="en-IE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C36D9-F221-A494-463F-068CC802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D02CE1-0D12-DE37-D270-64FA61B2A859}"/>
              </a:ext>
            </a:extLst>
          </p:cNvPr>
          <p:cNvSpPr txBox="1"/>
          <p:nvPr/>
        </p:nvSpPr>
        <p:spPr>
          <a:xfrm>
            <a:off x="731520" y="968829"/>
            <a:ext cx="201208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3000" b="1" dirty="0">
                <a:solidFill>
                  <a:srgbClr val="FFFFFF"/>
                </a:solidFill>
              </a:rPr>
              <a:t>Conclusion 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561B8-59D7-7B48-1B23-7748521D0EA8}"/>
              </a:ext>
            </a:extLst>
          </p:cNvPr>
          <p:cNvSpPr txBox="1"/>
          <p:nvPr/>
        </p:nvSpPr>
        <p:spPr>
          <a:xfrm>
            <a:off x="522514" y="1959429"/>
            <a:ext cx="76962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chemeClr val="bg1"/>
                </a:solidFill>
              </a:rPr>
              <a:t>While the models achieved moderate predictive performance, the project mostly highlights :</a:t>
            </a:r>
          </a:p>
          <a:p>
            <a:endParaRPr lang="de-DE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E" sz="2000" dirty="0">
                <a:solidFill>
                  <a:schemeClr val="bg1"/>
                </a:solidFill>
              </a:rPr>
              <a:t>Machine learning effectiveness depends as much on data quality and evaluation as on algorithm selection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E" sz="2000" dirty="0">
                <a:solidFill>
                  <a:schemeClr val="bg1"/>
                </a:solidFill>
              </a:rPr>
              <a:t>Accuracy alone is insufficient; meaningful evaluation requires deeper performance metrics and interpretation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E" sz="2000" dirty="0">
                <a:solidFill>
                  <a:schemeClr val="bg1"/>
                </a:solidFill>
              </a:rPr>
              <a:t>Operational variables such as inventory and pricing can provide valuable predictive signals for logistics outcomes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580524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2D148E-3326-453D-F955-4B21B1AE7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3" y="87086"/>
            <a:ext cx="8055430" cy="5370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723420-1D44-4A1E-B2CA-E80F6525DA7E}"/>
              </a:ext>
            </a:extLst>
          </p:cNvPr>
          <p:cNvSpPr txBox="1"/>
          <p:nvPr/>
        </p:nvSpPr>
        <p:spPr>
          <a:xfrm>
            <a:off x="206829" y="5693229"/>
            <a:ext cx="8610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THANK YOU!</a:t>
            </a:r>
          </a:p>
          <a:p>
            <a:endParaRPr lang="de-DE" dirty="0"/>
          </a:p>
          <a:p>
            <a:r>
              <a:rPr lang="de-DE" sz="2400" b="1" dirty="0"/>
              <a:t>Selasey Junior</a:t>
            </a:r>
            <a:endParaRPr lang="en-IE" sz="2400" b="1" dirty="0"/>
          </a:p>
        </p:txBody>
      </p:sp>
    </p:spTree>
    <p:extLst>
      <p:ext uri="{BB962C8B-B14F-4D97-AF65-F5344CB8AC3E}">
        <p14:creationId xmlns:p14="http://schemas.microsoft.com/office/powerpoint/2010/main" val="523449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567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Sohail Umar</cp:lastModifiedBy>
  <cp:revision>9</cp:revision>
  <dcterms:created xsi:type="dcterms:W3CDTF">2013-01-27T09:14:16Z</dcterms:created>
  <dcterms:modified xsi:type="dcterms:W3CDTF">2026-05-30T10:47:45Z</dcterms:modified>
  <cp:category/>
</cp:coreProperties>
</file>